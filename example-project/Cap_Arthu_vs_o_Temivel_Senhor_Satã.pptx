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9000000" cx="7200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  <p:embeddedFont>
      <p:font typeface="Alfa Slab On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35">
          <p15:clr>
            <a:srgbClr val="A4A3A4"/>
          </p15:clr>
        </p15:guide>
        <p15:guide id="2" pos="22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35" orient="horz"/>
        <p:guide pos="22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AlfaSlabOn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57721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2057721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a28b8c4541_0_47:notes"/>
          <p:cNvSpPr/>
          <p:nvPr>
            <p:ph idx="2" type="sldImg"/>
          </p:nvPr>
        </p:nvSpPr>
        <p:spPr>
          <a:xfrm>
            <a:off x="2057700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a28b8c454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a28b8c4541_0_101:notes"/>
          <p:cNvSpPr/>
          <p:nvPr>
            <p:ph idx="2" type="sldImg"/>
          </p:nvPr>
        </p:nvSpPr>
        <p:spPr>
          <a:xfrm>
            <a:off x="2057700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a28b8c454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a28b8c4541_0_107:notes"/>
          <p:cNvSpPr/>
          <p:nvPr>
            <p:ph idx="2" type="sldImg"/>
          </p:nvPr>
        </p:nvSpPr>
        <p:spPr>
          <a:xfrm>
            <a:off x="2057700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a28b8c454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a28b8c4541_0_113:notes"/>
          <p:cNvSpPr/>
          <p:nvPr>
            <p:ph idx="2" type="sldImg"/>
          </p:nvPr>
        </p:nvSpPr>
        <p:spPr>
          <a:xfrm>
            <a:off x="2057700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a28b8c454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a28b8c4541_0_118:notes"/>
          <p:cNvSpPr/>
          <p:nvPr>
            <p:ph idx="2" type="sldImg"/>
          </p:nvPr>
        </p:nvSpPr>
        <p:spPr>
          <a:xfrm>
            <a:off x="2057700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a28b8c454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a28b8c4541_0_123:notes"/>
          <p:cNvSpPr/>
          <p:nvPr>
            <p:ph idx="2" type="sldImg"/>
          </p:nvPr>
        </p:nvSpPr>
        <p:spPr>
          <a:xfrm>
            <a:off x="2057721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a28b8c454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a28b8c4541_0_128:notes"/>
          <p:cNvSpPr/>
          <p:nvPr>
            <p:ph idx="2" type="sldImg"/>
          </p:nvPr>
        </p:nvSpPr>
        <p:spPr>
          <a:xfrm>
            <a:off x="2057721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a28b8c454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a28b8c4541_0_134:notes"/>
          <p:cNvSpPr/>
          <p:nvPr>
            <p:ph idx="2" type="sldImg"/>
          </p:nvPr>
        </p:nvSpPr>
        <p:spPr>
          <a:xfrm>
            <a:off x="2057721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a28b8c454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a28b8c4541_0_145:notes"/>
          <p:cNvSpPr/>
          <p:nvPr>
            <p:ph idx="2" type="sldImg"/>
          </p:nvPr>
        </p:nvSpPr>
        <p:spPr>
          <a:xfrm>
            <a:off x="2057721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a28b8c454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a28b8c4541_0_161:notes"/>
          <p:cNvSpPr/>
          <p:nvPr>
            <p:ph idx="2" type="sldImg"/>
          </p:nvPr>
        </p:nvSpPr>
        <p:spPr>
          <a:xfrm>
            <a:off x="2057721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a28b8c454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3368740" y="4813933"/>
            <a:ext cx="4626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245433" y="1042826"/>
            <a:ext cx="6709200" cy="3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45433" y="5539498"/>
            <a:ext cx="6709200" cy="12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45433" y="4340420"/>
            <a:ext cx="6389400" cy="427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245433" y="778696"/>
            <a:ext cx="67092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45433" y="2016579"/>
            <a:ext cx="6709200" cy="59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245433" y="778696"/>
            <a:ext cx="67092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245433" y="2016579"/>
            <a:ext cx="3149400" cy="59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3805039" y="2016579"/>
            <a:ext cx="3149400" cy="59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245433" y="778696"/>
            <a:ext cx="67092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245433" y="1105512"/>
            <a:ext cx="2211000" cy="13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245433" y="2608705"/>
            <a:ext cx="2211000" cy="5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86024" y="920997"/>
            <a:ext cx="4475400" cy="715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3600000" y="175"/>
            <a:ext cx="3600000" cy="900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3960374" y="7866142"/>
            <a:ext cx="368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09055" y="2406998"/>
            <a:ext cx="3185100" cy="271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09055" y="5216317"/>
            <a:ext cx="3185100" cy="23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3889370" y="1267192"/>
            <a:ext cx="3021300" cy="646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251575" y="7408093"/>
            <a:ext cx="4723500" cy="1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245433" y="2043613"/>
            <a:ext cx="6709200" cy="34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245433" y="5641732"/>
            <a:ext cx="6709200" cy="18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5433" y="778696"/>
            <a:ext cx="67092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5433" y="2016579"/>
            <a:ext cx="6709200" cy="59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671227" y="8159609"/>
            <a:ext cx="4320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45433" y="1042826"/>
            <a:ext cx="6709200" cy="3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Capitão Arthur vs o Temível Senhor Satã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45433" y="5539498"/>
            <a:ext cx="6709200" cy="12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bem e o mal são óticas.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45433" y="778696"/>
            <a:ext cx="67092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Sinopse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45433" y="2016579"/>
            <a:ext cx="6709200" cy="59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 Capitão Arthur voa pelo espaço com sua mochila de foguete para encontrar sua doce amada nas mãos do temível Sr. Satã. Ele terá que enfrentar o robô, os raios mortais e o próprio Sr. Satã para salvar a sua amada e garantir a paz na galáxia.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 rot="10800000">
            <a:off x="4901125" y="5272475"/>
            <a:ext cx="2053500" cy="2722200"/>
          </a:xfrm>
          <a:prstGeom prst="halfFrame">
            <a:avLst>
              <a:gd fmla="val 4186" name="adj1"/>
              <a:gd fmla="val 4009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45433" y="778696"/>
            <a:ext cx="67092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Argumento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245433" y="2016579"/>
            <a:ext cx="6709200" cy="59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Capitão Arthur está voando pelo espaço com sua mochila de foguete. Ele recebe um chamado em seu comunicador de pulso e pára no ar para receber a mensagem. É o temível Sr. Satã que está com a sua amada, a princesa do planeta D´vore chamada Iori, ele vai usar o sangue dourado dela para abastecer a máquina de raios cósmicos </a:t>
            </a:r>
            <a:r>
              <a:rPr lang="pt-BR"/>
              <a:t>galácticos. Sr. Satã é um sádico lunático que quer a dominação da galáxia inteira! Capitão Arthur usa seu outro braço para chamar a Inteligência e pergunta onde está o robô do Sr. Satã. Com certeza o robô sabe onde ele se encontra. A inteligência explica que o robô está num planeta distante, preparando para mineração.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Capitão Arthur se mobiliza para o planeta. O planeta é verde e com grandes oceanos. Ele encontra o robô perambulando. Capitão Arthur pergunta para Inteligência qual seria o melhor plano de ação e Inteligência responde que seria a comunicação direta. Capitão Arthur não está com paciência para conversas. Ele tira uma bomba de sua mala, ativa e lança. A explosão consome uma boa parte do planeta.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 rot="10800000">
            <a:off x="4901125" y="5272475"/>
            <a:ext cx="2053500" cy="2722200"/>
          </a:xfrm>
          <a:prstGeom prst="halfFrame">
            <a:avLst>
              <a:gd fmla="val 4186" name="adj1"/>
              <a:gd fmla="val 4009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245433" y="2016579"/>
            <a:ext cx="6709200" cy="59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robô, agora está deitado, sobre escombros. Capitão Arthur chega perto dele e nota que o robô está rindo. Você chegou tarde, diz o robô, os raios mortais do Sr. Satã já </a:t>
            </a:r>
            <a:r>
              <a:rPr lang="pt-BR"/>
              <a:t>está</a:t>
            </a:r>
            <a:r>
              <a:rPr lang="pt-BR"/>
              <a:t> funcionando. Você não será </a:t>
            </a:r>
            <a:r>
              <a:rPr lang="pt-BR"/>
              <a:t>páreo</a:t>
            </a:r>
            <a:r>
              <a:rPr lang="pt-BR"/>
              <a:t> para eles! Capitão Arthur se aproxima do robô e pergunta onde está o Sr. Satã ou vai de-</a:t>
            </a:r>
            <a:r>
              <a:rPr lang="pt-BR"/>
              <a:t>compilar</a:t>
            </a:r>
            <a:r>
              <a:rPr lang="pt-BR"/>
              <a:t> o código fonte dele. O robô </a:t>
            </a:r>
            <a:r>
              <a:rPr lang="pt-BR"/>
              <a:t>hesita</a:t>
            </a:r>
            <a:r>
              <a:rPr lang="pt-BR"/>
              <a:t> e o Capitão Arthur se prepara para </a:t>
            </a:r>
            <a:r>
              <a:rPr lang="pt-BR"/>
              <a:t>decompilar</a:t>
            </a:r>
            <a:r>
              <a:rPr lang="pt-BR"/>
              <a:t> o código do robô. Antes que ele faça </a:t>
            </a:r>
            <a:r>
              <a:rPr lang="pt-BR"/>
              <a:t>isso, o robô</a:t>
            </a:r>
            <a:r>
              <a:rPr lang="pt-BR"/>
              <a:t> conta que o Sr. Satã está no planeta Rai. E ele está usando o sangue da rainha antes de usar o sangue da princesa.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Capitão Arthur, depois de receber a informação, </a:t>
            </a:r>
            <a:r>
              <a:rPr lang="pt-BR"/>
              <a:t>pressiona</a:t>
            </a:r>
            <a:r>
              <a:rPr lang="pt-BR"/>
              <a:t> o botão de decompilar. O robô treme e se contorce até que sua expressão se torna vazia.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Capitão Arthur manda </a:t>
            </a:r>
            <a:r>
              <a:rPr lang="pt-BR"/>
              <a:t>Inteligência</a:t>
            </a:r>
            <a:r>
              <a:rPr lang="pt-BR"/>
              <a:t> traçar a rota para o planeta Rai. Ela responde que a rota mais rápida </a:t>
            </a:r>
            <a:r>
              <a:rPr lang="pt-BR"/>
              <a:t>passa</a:t>
            </a:r>
            <a:r>
              <a:rPr lang="pt-BR"/>
              <a:t> por um trecho bem povoado de planetas. Capitão Arthur agradece e </a:t>
            </a:r>
            <a:r>
              <a:rPr lang="pt-BR"/>
              <a:t>parte da viagem.</a:t>
            </a:r>
            <a:r>
              <a:rPr lang="pt-BR"/>
              <a:t> Atrás </a:t>
            </a:r>
            <a:r>
              <a:rPr lang="pt-BR"/>
              <a:t>dele, o planeta</a:t>
            </a:r>
            <a:r>
              <a:rPr lang="pt-BR"/>
              <a:t> que antes era verde e cheio de vida, agora está com uma cratera.</a:t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 rot="10800000">
            <a:off x="4901125" y="5272475"/>
            <a:ext cx="2053500" cy="2722200"/>
          </a:xfrm>
          <a:prstGeom prst="halfFrame">
            <a:avLst>
              <a:gd fmla="val 4186" name="adj1"/>
              <a:gd fmla="val 4009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245433" y="2016579"/>
            <a:ext cx="6709200" cy="59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Capitão Arthur está indo em direção a sua amada e seu </a:t>
            </a:r>
            <a:r>
              <a:rPr lang="pt-BR"/>
              <a:t>intercomunicador</a:t>
            </a:r>
            <a:r>
              <a:rPr lang="pt-BR"/>
              <a:t> soa. Sr. Satã diz que Capitão Arthur pagará pela </a:t>
            </a:r>
            <a:r>
              <a:rPr lang="pt-BR"/>
              <a:t>insolência. Capitão Arthur tripudia do Sr. Satã dizendo que não vai ficar parado esperando ele mirar os raios.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Nesse momento um dos raios do Sr. Satã lhe atinge em cheio fazendo ele voar para longe. Capitão Arthur sente o ataque. Ele liga suas defesas reflexivas e segue para frente. Novamente um dos raios do Sr. Satã o atinge e ele reflete o ataque. O raio refletido atinge um planeta fazendo um corte. Capitão Arthur muda de posição e um novo raio o atinge. Ele novamente reflete o raio. O raio refletido atinge uma lua removendo pedaços que voam na direção do planeta que a lua orbita.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Ele aumenta a velocidade e os raios do Sr. Satã atinge planetas, luas e naves transeuntes.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Capitão Arthur muda sua defesa para fazer um contra ataque.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 rot="10800000">
            <a:off x="4901125" y="5272475"/>
            <a:ext cx="2053500" cy="2722200"/>
          </a:xfrm>
          <a:prstGeom prst="halfFrame">
            <a:avLst>
              <a:gd fmla="val 4186" name="adj1"/>
              <a:gd fmla="val 4009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245433" y="2016579"/>
            <a:ext cx="6709200" cy="59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Quando o raio do Sr. Satã o atinge, ele o reflete de volta. Destruindo a arma do Sr. Satã. Que vai até a princesa ameaçando-a com seus instrumentos </a:t>
            </a:r>
            <a:r>
              <a:rPr lang="pt-BR"/>
              <a:t>cirúrgicos.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Sr Satã, fala para Iora que Capitão Arthur não o venceu, mas sim destruiu o raio de energia fraco, que não era nada mais do que uma isca para </a:t>
            </a:r>
            <a:r>
              <a:rPr lang="pt-BR"/>
              <a:t>mantê-lo</a:t>
            </a:r>
            <a:r>
              <a:rPr lang="pt-BR"/>
              <a:t> ocupado enquanto ele retira seu sangue para alimentar o raio poderoso e dar vida novamente ao seu povo!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Capitão Arthur entra dentro da sala pela porta. Você é que não vencerá Sr. Satã.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Sr. Satã agarra a jovem Iori ameaçando-a com uma faca. Capitão Arthur avisa que Sr. Satã não quer fazer isso. Não quer destruir a </a:t>
            </a:r>
            <a:r>
              <a:rPr lang="pt-BR"/>
              <a:t>única</a:t>
            </a:r>
            <a:r>
              <a:rPr lang="pt-BR"/>
              <a:t> coisa que fará seu raio funcionar. Sr. Satã, retruca com: “se eu não posso ter. Ninguém terá!”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E Capitão Arthur devolve dizendo que, enquanto estava vindo pra cá, enquanto o raio lhe atingia, ele lembrou que o planeta natal do Sr. Satã estava no caminho, ele lembrou que o povo do Sr. Satã habitava aquelas partes. Sr. Satã entendeu então que Capitão Arthur usou seu raio para eliminar seu povo.</a:t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 rot="10800000">
            <a:off x="4901125" y="5272475"/>
            <a:ext cx="2053500" cy="2722200"/>
          </a:xfrm>
          <a:prstGeom prst="halfFrame">
            <a:avLst>
              <a:gd fmla="val 4186" name="adj1"/>
              <a:gd fmla="val 4009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245433" y="778696"/>
            <a:ext cx="67092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Defesa criativa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245433" y="2016579"/>
            <a:ext cx="6709200" cy="59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claro que um filme desse representa um grande desafio. Isso não está em discussão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Essa </a:t>
            </a:r>
            <a:r>
              <a:rPr lang="pt-BR"/>
              <a:t>proposta, todavia, </a:t>
            </a:r>
            <a:r>
              <a:rPr lang="pt-BR"/>
              <a:t>pretende explicar por que algumas escolhas são fundamentais para tornar o filme possível.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 </a:t>
            </a:r>
            <a:r>
              <a:rPr lang="pt-BR"/>
              <a:t>primeira e</a:t>
            </a:r>
            <a:r>
              <a:rPr lang="pt-BR"/>
              <a:t> mais importante dessas escolhas é a orientação </a:t>
            </a:r>
            <a:r>
              <a:rPr lang="pt-BR"/>
              <a:t>artística</a:t>
            </a:r>
            <a:r>
              <a:rPr lang="pt-BR"/>
              <a:t> para todo o filme: </a:t>
            </a:r>
            <a:r>
              <a:rPr lang="pt-BR" u="sng"/>
              <a:t>Expressionismo alemão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Isso significa que, para os objetos cênicos, maquiagem, figurino, cenário, fotografia e trilha sonora musical, há um conjunto de traços únicos para a obra. Embora, em um primeiro momento, essa pareça uma tarefa </a:t>
            </a:r>
            <a:r>
              <a:rPr lang="pt-BR"/>
              <a:t>estratosférica, a utilização dessa linha torna a obra possível.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/>
          <p:nvPr/>
        </p:nvSpPr>
        <p:spPr>
          <a:xfrm rot="10800000">
            <a:off x="4901125" y="5272475"/>
            <a:ext cx="2053500" cy="2722200"/>
          </a:xfrm>
          <a:prstGeom prst="halfFrame">
            <a:avLst>
              <a:gd fmla="val 4186" name="adj1"/>
              <a:gd fmla="val 4009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245433" y="1105512"/>
            <a:ext cx="2211000" cy="13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Fotografia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245433" y="2608705"/>
            <a:ext cx="2211000" cy="5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fotografia partirá de 3 elementos fundamentais: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pt-BR"/>
              <a:t>PRETO E BRANCO;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pt-BR"/>
              <a:t>Luzes duras e sombras marcadas;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pt-BR"/>
              <a:t>Forte contraste entre claro e escuro;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pt-BR"/>
              <a:t>Planos longos com cobertura de detalhes dos rostos e alguns objetos </a:t>
            </a:r>
            <a:r>
              <a:rPr b="1" lang="pt-BR"/>
              <a:t>cênicos.</a:t>
            </a:r>
            <a:r>
              <a:rPr b="1" lang="pt-BR"/>
              <a:t> 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pt-BR"/>
              <a:t>Poucos e </a:t>
            </a:r>
            <a:r>
              <a:rPr b="1" lang="pt-BR"/>
              <a:t>esparsos</a:t>
            </a:r>
            <a:r>
              <a:rPr b="1" lang="pt-BR"/>
              <a:t> movimentos de câmera. 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pt-BR"/>
              <a:t>Uso de LED´s com iluminação direta e não motivada</a:t>
            </a:r>
            <a:endParaRPr b="1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9602" y="1417100"/>
            <a:ext cx="3582275" cy="201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9602" y="3821201"/>
            <a:ext cx="3582275" cy="174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9602" y="5987052"/>
            <a:ext cx="3582274" cy="188518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/>
          <p:nvPr/>
        </p:nvSpPr>
        <p:spPr>
          <a:xfrm rot="10800000">
            <a:off x="4901125" y="5272475"/>
            <a:ext cx="2053500" cy="2722200"/>
          </a:xfrm>
          <a:prstGeom prst="halfFrame">
            <a:avLst>
              <a:gd fmla="val 4186" name="adj1"/>
              <a:gd fmla="val 4009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245433" y="1105512"/>
            <a:ext cx="2211000" cy="13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ARTE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245433" y="2608705"/>
            <a:ext cx="2211000" cy="5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</a:t>
            </a:r>
            <a:r>
              <a:rPr lang="pt-BR"/>
              <a:t>arte se aproveita</a:t>
            </a:r>
            <a:r>
              <a:rPr lang="pt-BR"/>
              <a:t> da escolha da paleta de cores por transformar os complexos tons e as texturas naturais dos objetos mundanos para serem marcados pela iluminação dura e tons de preto. </a:t>
            </a:r>
            <a:endParaRPr/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pt-BR"/>
              <a:t>objetos </a:t>
            </a:r>
            <a:r>
              <a:rPr b="1" lang="pt-BR"/>
              <a:t>cênicos</a:t>
            </a:r>
            <a:r>
              <a:rPr b="1" lang="pt-BR"/>
              <a:t> serão compostos de objetos reais modificados para serem encaixados nessa realidade.</a:t>
            </a:r>
            <a:endParaRPr b="1"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pt-BR"/>
              <a:t>Vestidos e roupas dos personagens serão comprados em brechós e modificados</a:t>
            </a:r>
            <a:endParaRPr b="1"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pt-BR"/>
              <a:t>toda a maquiagem será composta por maquiagem conhecida por clown (forte e brilhante)</a:t>
            </a:r>
            <a:endParaRPr b="1"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pt-BR"/>
              <a:t>O robô será uma construção de papelão pintado de “tinta metálica” </a:t>
            </a:r>
            <a:endParaRPr b="1"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4628" y="654050"/>
            <a:ext cx="2806024" cy="2107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4625" y="3266788"/>
            <a:ext cx="2806026" cy="195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6250" y="5732300"/>
            <a:ext cx="2802766" cy="210704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/>
          <p:nvPr/>
        </p:nvSpPr>
        <p:spPr>
          <a:xfrm rot="10800000">
            <a:off x="4901125" y="5272475"/>
            <a:ext cx="2053500" cy="2722200"/>
          </a:xfrm>
          <a:prstGeom prst="halfFrame">
            <a:avLst>
              <a:gd fmla="val 4186" name="adj1"/>
              <a:gd fmla="val 4009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245433" y="1105512"/>
            <a:ext cx="2211000" cy="13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Cenário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245433" y="2608705"/>
            <a:ext cx="2211000" cy="5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Ainda dentro da direção de arte, mas novamente construído para ser realizável, o cenário é uma composição usando materiais reciclados, como tubos, conexões, caixas de papelão e peças diversas para dar a impressão de alavancas, chaves seletoras, </a:t>
            </a:r>
            <a:r>
              <a:rPr lang="pt-BR"/>
              <a:t>painéis</a:t>
            </a:r>
            <a:r>
              <a:rPr lang="pt-BR"/>
              <a:t> mostradores, telas, radares entre outros.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Como toda confecção desse cenário será realizada com material reciclado, a aquisição e posterior descarte serão facilitados. Trata-se do único cenário construído do filme, e pode ser instalado no estúdio da faculdade.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 restante das locações, principalmente os planetas serão locações externas facilmente acessíveis na cidade de salto.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7025" y="1113925"/>
            <a:ext cx="2831550" cy="2126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7027" y="3921500"/>
            <a:ext cx="2831550" cy="15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7027" y="6131300"/>
            <a:ext cx="2831550" cy="142285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 rot="10800000">
            <a:off x="4901125" y="5272475"/>
            <a:ext cx="2053500" cy="2722200"/>
          </a:xfrm>
          <a:prstGeom prst="halfFrame">
            <a:avLst>
              <a:gd fmla="val 4186" name="adj1"/>
              <a:gd fmla="val 4009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245433" y="1105512"/>
            <a:ext cx="2211000" cy="13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Efeitos visuais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245433" y="2534330"/>
            <a:ext cx="2211000" cy="5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Não teremos efeitos visuais práticos. Planetas, raios, </a:t>
            </a:r>
            <a:r>
              <a:rPr lang="pt-BR"/>
              <a:t>propulsão,</a:t>
            </a:r>
            <a:r>
              <a:rPr lang="pt-BR"/>
              <a:t> naves, jatos, explosões serão composições de ativos prontos </a:t>
            </a:r>
            <a:r>
              <a:rPr lang="pt-BR"/>
              <a:t>adquiridos e/ou de utilização livre.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Sobrepostos nas imagens e com algumas técnicas simples de vfx esses ativos serão a composição perfeita.</a:t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325" y="3551875"/>
            <a:ext cx="3330951" cy="187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7324" y="1286693"/>
            <a:ext cx="3330950" cy="1865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7324" y="5902700"/>
            <a:ext cx="3330950" cy="186533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/>
          <p:nvPr/>
        </p:nvSpPr>
        <p:spPr>
          <a:xfrm rot="10800000">
            <a:off x="4901125" y="5272475"/>
            <a:ext cx="2053500" cy="2722200"/>
          </a:xfrm>
          <a:prstGeom prst="halfFrame">
            <a:avLst>
              <a:gd fmla="val 4186" name="adj1"/>
              <a:gd fmla="val 4009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